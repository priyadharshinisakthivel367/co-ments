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9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50" d="100"/>
          <a:sy n="50" d="100"/>
        </p:scale>
        <p:origin x="346" y="107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9430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040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492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4924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3072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090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62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889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4746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804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1891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2086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798" r:id="rId2"/>
    <p:sldLayoutId id="2147483799" r:id="rId3"/>
    <p:sldLayoutId id="2147483800" r:id="rId4"/>
    <p:sldLayoutId id="2147483801" r:id="rId5"/>
    <p:sldLayoutId id="2147483802" r:id="rId6"/>
    <p:sldLayoutId id="2147483803" r:id="rId7"/>
    <p:sldLayoutId id="2147483804" r:id="rId8"/>
    <p:sldLayoutId id="2147483805" r:id="rId9"/>
    <p:sldLayoutId id="2147483806" r:id="rId10"/>
    <p:sldLayoutId id="2147483807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1AEB8A9-B768-4E30-BA55-D919E6687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0001" y="-2"/>
            <a:ext cx="4069936" cy="68580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039" y="640080"/>
            <a:ext cx="3429855" cy="5613236"/>
          </a:xfrm>
        </p:spPr>
        <p:txBody>
          <a:bodyPr anchor="ctr"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JavaScript Project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5998" y="2659390"/>
            <a:ext cx="7172138" cy="3745107"/>
          </a:xfrm>
        </p:spPr>
        <p:txBody>
          <a:bodyPr>
            <a:normAutofit/>
          </a:bodyPr>
          <a:lstStyle/>
          <a:p>
            <a:endParaRPr lang="en-US" dirty="0"/>
          </a:p>
          <a:p>
            <a:pPr>
              <a:defRPr sz="1800"/>
            </a:pPr>
            <a:r>
              <a:rPr lang="en-US" dirty="0"/>
              <a:t>Project Title    :  Comment and Reply Thread System – MERN Stack</a:t>
            </a:r>
          </a:p>
          <a:p>
            <a:pPr>
              <a:defRPr sz="1800"/>
            </a:pPr>
            <a:r>
              <a:rPr lang="en-US" dirty="0"/>
              <a:t>Course           :   React.js / Web Development Project</a:t>
            </a:r>
            <a:endParaRPr lang="en-IN" dirty="0"/>
          </a:p>
          <a:p>
            <a:pPr>
              <a:defRPr sz="1800"/>
            </a:pPr>
            <a:r>
              <a:rPr lang="en-US" dirty="0"/>
              <a:t>Student Name :   S R PRIYADHARSHINI</a:t>
            </a:r>
          </a:p>
          <a:p>
            <a:pPr>
              <a:defRPr sz="1800"/>
            </a:pPr>
            <a:r>
              <a:rPr lang="en-US" dirty="0"/>
              <a:t> Roll No          :   24BIT136</a:t>
            </a:r>
            <a:endParaRPr lang="en-IN" dirty="0"/>
          </a:p>
          <a:p>
            <a:pPr>
              <a:defRPr sz="1800"/>
            </a:pPr>
            <a:r>
              <a:rPr lang="en-US" dirty="0"/>
              <a:t>Department    :   </a:t>
            </a:r>
            <a:r>
              <a:rPr lang="en-US" dirty="0" err="1"/>
              <a:t>B.Sc</a:t>
            </a:r>
            <a:r>
              <a:rPr lang="en-US" dirty="0"/>
              <a:t> - IT</a:t>
            </a:r>
            <a:endParaRPr lang="en-IN" dirty="0"/>
          </a:p>
          <a:p>
            <a:pPr>
              <a:defRPr sz="1800"/>
            </a:pPr>
            <a:r>
              <a:rPr lang="en-US" dirty="0"/>
              <a:t>Mentor           :   Aravind</a:t>
            </a:r>
            <a:endParaRPr lang="en-IN" dirty="0"/>
          </a:p>
        </p:txBody>
      </p:sp>
      <p:pic>
        <p:nvPicPr>
          <p:cNvPr id="5" name="Picture 4" descr="A blue and red logo&#10;&#10;AI-generated content may be incorrect.">
            <a:extLst>
              <a:ext uri="{FF2B5EF4-FFF2-40B4-BE49-F238E27FC236}">
                <a16:creationId xmlns:a16="http://schemas.microsoft.com/office/drawing/2014/main" id="{23ADDFF5-9C61-0768-8757-8019489765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0112" y="453503"/>
            <a:ext cx="6743910" cy="168597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BDDD243-ED5F-4896-B18B-ABCF4B7E1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9E6BB3-DF2B-4751-97C5-B3DB949AED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1998"/>
            <a:ext cx="12188952" cy="22855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4911819"/>
            <a:ext cx="9720072" cy="1499616"/>
          </a:xfrm>
        </p:spPr>
        <p:txBody>
          <a:bodyPr>
            <a:normAutofit/>
          </a:bodyPr>
          <a:lstStyle/>
          <a:p>
            <a:r>
              <a:rPr lang="en-IN" dirty="0"/>
              <a:t>Project Overview &amp; Objectives</a:t>
            </a:r>
            <a:endParaRPr lang="en-IN" dirty="0">
              <a:solidFill>
                <a:srgbClr val="FFFFFF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1721DD-D110-44EE-82A7-D56AB687E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5204427"/>
            <a:ext cx="0" cy="91440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blue and red logo&#10;&#10;AI-generated content may be incorrect.">
            <a:extLst>
              <a:ext uri="{FF2B5EF4-FFF2-40B4-BE49-F238E27FC236}">
                <a16:creationId xmlns:a16="http://schemas.microsoft.com/office/drawing/2014/main" id="{F2717A31-A8B4-E004-6E1B-13ACE572E1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4175" y="5064344"/>
            <a:ext cx="4217932" cy="1054483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46E69111-24AF-660B-0485-4097E377667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21078" y="109470"/>
            <a:ext cx="10926171" cy="47787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The Concept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: </a:t>
            </a:r>
            <a:r>
              <a:rPr lang="en-US" sz="2800" dirty="0"/>
              <a:t>A high-performance full-stack MERN stack application designed to provide a structured and real-time comment discussion platform.</a:t>
            </a:r>
          </a:p>
          <a:p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Core Goal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: </a:t>
            </a:r>
            <a:r>
              <a:rPr lang="en-US" sz="2800" dirty="0"/>
              <a:t>To replace static, non-interactive comment sections with a modern, event-driven real-time system where users can post comments, reply in threads, like, and dislike instantly without page refreshes.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Learning Focus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: </a:t>
            </a:r>
            <a:r>
              <a:rPr lang="en-US" sz="2800" dirty="0"/>
              <a:t>Mastering React for dynamic frontend development, Node.js with Express for backend APIs, MongoDB for data persistence, and Socket.IO (</a:t>
            </a:r>
            <a:r>
              <a:rPr lang="en-US" sz="2800" dirty="0" err="1"/>
              <a:t>WebSockets</a:t>
            </a:r>
            <a:r>
              <a:rPr lang="en-US" sz="2800" dirty="0"/>
              <a:t>) for live bidirectional data streaming and real-time updates.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BDDD243-ED5F-4896-B18B-ABCF4B7E1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9E6BB3-DF2B-4751-97C5-B3DB949AED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1998"/>
            <a:ext cx="12188952" cy="22855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2928" y="4911819"/>
            <a:ext cx="9720072" cy="1499616"/>
          </a:xfrm>
        </p:spPr>
        <p:txBody>
          <a:bodyPr>
            <a:normAutofit/>
          </a:bodyPr>
          <a:lstStyle/>
          <a:p>
            <a:r>
              <a:rPr lang="en-IN" dirty="0"/>
              <a:t>Real-World Problem &amp; Solution</a:t>
            </a:r>
            <a:endParaRPr lang="en-IN" dirty="0">
              <a:solidFill>
                <a:srgbClr val="FFFF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2048" y="672592"/>
            <a:ext cx="10137857" cy="3606798"/>
          </a:xfrm>
        </p:spPr>
        <p:txBody>
          <a:bodyPr anchor="ctr">
            <a:noAutofit/>
          </a:bodyPr>
          <a:lstStyle/>
          <a:p>
            <a:endParaRPr lang="en-US" sz="2800" dirty="0"/>
          </a:p>
          <a:p>
            <a:r>
              <a:rPr lang="en-US" sz="2800" b="1" dirty="0"/>
              <a:t>The Problem</a:t>
            </a:r>
            <a:r>
              <a:rPr lang="en-US" sz="2800" dirty="0"/>
              <a:t>: Traditional comment sections are static and non-interactive, causing users to miss new replies and leading to fragmented, delayed discussions.</a:t>
            </a:r>
          </a:p>
          <a:p>
            <a:r>
              <a:rPr lang="en-US" sz="2800" b="1" dirty="0"/>
              <a:t>The Solution</a:t>
            </a:r>
            <a:r>
              <a:rPr lang="en-US" sz="2800" dirty="0"/>
              <a:t>: A dedicated real-time comment platform with threaded replies and instant updates, allowing users to post, reply, like, and dislike seamlessly in a clean, structured interface.</a:t>
            </a:r>
          </a:p>
          <a:p>
            <a:r>
              <a:rPr lang="en-US" sz="2800" b="1" dirty="0"/>
              <a:t>Efficiency</a:t>
            </a:r>
            <a:r>
              <a:rPr lang="en-US" sz="2800" dirty="0"/>
              <a:t>: Real-time notifications and live status updates ensure every new comment or reply is instantly visible to all participants without refreshing the page.</a:t>
            </a:r>
          </a:p>
          <a:p>
            <a:endParaRPr lang="en-US" sz="28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1721DD-D110-44EE-82A7-D56AB687E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5204427"/>
            <a:ext cx="0" cy="91440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blue and red logo&#10;&#10;AI-generated content may be incorrect.">
            <a:extLst>
              <a:ext uri="{FF2B5EF4-FFF2-40B4-BE49-F238E27FC236}">
                <a16:creationId xmlns:a16="http://schemas.microsoft.com/office/drawing/2014/main" id="{F8182D06-9091-F998-D800-38D2FE0DD5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4175" y="5064344"/>
            <a:ext cx="4217932" cy="105448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BDDD243-ED5F-4896-B18B-ABCF4B7E1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9E6BB3-DF2B-4751-97C5-B3DB949AED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1998"/>
            <a:ext cx="12188952" cy="22855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4911819"/>
            <a:ext cx="9720072" cy="1499616"/>
          </a:xfrm>
        </p:spPr>
        <p:txBody>
          <a:bodyPr>
            <a:normAutofit/>
          </a:bodyPr>
          <a:lstStyle/>
          <a:p>
            <a:r>
              <a:rPr lang="en-IN" dirty="0"/>
              <a:t>System Architecture</a:t>
            </a:r>
            <a:endParaRPr lang="en-IN" dirty="0">
              <a:solidFill>
                <a:srgbClr val="FFFFFF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1721DD-D110-44EE-82A7-D56AB687E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5204427"/>
            <a:ext cx="0" cy="91440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blue and red logo&#10;&#10;AI-generated content may be incorrect.">
            <a:extLst>
              <a:ext uri="{FF2B5EF4-FFF2-40B4-BE49-F238E27FC236}">
                <a16:creationId xmlns:a16="http://schemas.microsoft.com/office/drawing/2014/main" id="{D3B1CDE6-5975-DA2B-4C74-820D042157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4175" y="5064344"/>
            <a:ext cx="4217932" cy="1054483"/>
          </a:xfrm>
          <a:prstGeom prst="rect">
            <a:avLst/>
          </a:prstGeom>
        </p:spPr>
      </p:pic>
      <p:sp>
        <p:nvSpPr>
          <p:cNvPr id="8" name="Rectangle 4">
            <a:extLst>
              <a:ext uri="{FF2B5EF4-FFF2-40B4-BE49-F238E27FC236}">
                <a16:creationId xmlns:a16="http://schemas.microsoft.com/office/drawing/2014/main" id="{0A705CFD-ABB8-30F4-E175-AE1BFFECA91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59133" y="770659"/>
            <a:ext cx="9885067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Built with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React and Vite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utilizing Environment Variables (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VITE_API_URL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to handle different hosting links.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Node.js and Express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server hosted on Render, communicating with a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MongoDB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database.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Live Sync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lang="en-US" sz="2800" dirty="0"/>
              <a:t>Powered by Socket.IO, which allows the server to "push" new comments and replies instantly to all connected users without requiring any page refresh.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BDDD243-ED5F-4896-B18B-ABCF4B7E1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9E6BB3-DF2B-4751-97C5-B3DB949AED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1998"/>
            <a:ext cx="12188952" cy="22855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4911819"/>
            <a:ext cx="9720072" cy="1499616"/>
          </a:xfrm>
        </p:spPr>
        <p:txBody>
          <a:bodyPr>
            <a:normAutofit/>
          </a:bodyPr>
          <a:lstStyle/>
          <a:p>
            <a:r>
              <a:rPr lang="en-IN" dirty="0"/>
              <a:t>Key Modules &amp; Functionality</a:t>
            </a:r>
            <a:endParaRPr lang="en-IN" dirty="0">
              <a:solidFill>
                <a:srgbClr val="FFFF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7381" y="643467"/>
            <a:ext cx="10768478" cy="3606798"/>
          </a:xfrm>
        </p:spPr>
        <p:txBody>
          <a:bodyPr anchor="ctr">
            <a:normAutofit/>
          </a:bodyPr>
          <a:lstStyle/>
          <a:p>
            <a:r>
              <a:rPr lang="en-US" sz="2000" b="1" dirty="0"/>
              <a:t>Authentication</a:t>
            </a:r>
            <a:r>
              <a:rPr lang="en-US" sz="2000" dirty="0"/>
              <a:t>: Role-Based Access Control (RBAC) that detects if a user is logged in and provides secure access to the comment platform with JWT token validation.</a:t>
            </a:r>
          </a:p>
          <a:p>
            <a:r>
              <a:rPr lang="en-US" sz="2000" b="1" dirty="0"/>
              <a:t>Comment Posting</a:t>
            </a:r>
            <a:r>
              <a:rPr lang="en-US" sz="2000" dirty="0"/>
              <a:t>: A clean and intuitive input form that allows users to post new comments or reply to existing threads with real-time updates visible to all participants.</a:t>
            </a:r>
          </a:p>
          <a:p>
            <a:r>
              <a:rPr lang="en-IN" sz="2000" b="1" dirty="0"/>
              <a:t>Threaded Discussions</a:t>
            </a:r>
            <a:r>
              <a:rPr lang="en-US" sz="2000" dirty="0"/>
              <a:t>: A live nested reply system that organizes comments into proper threads, making conversations structured and easy to follow without page refreshes.</a:t>
            </a:r>
          </a:p>
        </p:txBody>
      </p:sp>
      <p:pic>
        <p:nvPicPr>
          <p:cNvPr id="4" name="Picture 3" descr="A blue and red logo&#10;&#10;AI-generated content may be incorrect.">
            <a:extLst>
              <a:ext uri="{FF2B5EF4-FFF2-40B4-BE49-F238E27FC236}">
                <a16:creationId xmlns:a16="http://schemas.microsoft.com/office/drawing/2014/main" id="{8AAB1948-9F76-AEB6-BF18-F06D1BF8F2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4175" y="5064344"/>
            <a:ext cx="4217932" cy="1054483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1721DD-D110-44EE-82A7-D56AB687E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5204427"/>
            <a:ext cx="0" cy="91440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BDDD243-ED5F-4896-B18B-ABCF4B7E1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9E6BB3-DF2B-4751-97C5-B3DB949AED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1998"/>
            <a:ext cx="12188952" cy="22855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069" y="4949071"/>
            <a:ext cx="9720072" cy="1499616"/>
          </a:xfrm>
        </p:spPr>
        <p:txBody>
          <a:bodyPr>
            <a:normAutofit/>
          </a:bodyPr>
          <a:lstStyle/>
          <a:p>
            <a:r>
              <a:rPr lang="en-IN" dirty="0"/>
              <a:t>Technical Challenges &amp; Solutions</a:t>
            </a:r>
            <a:endParaRPr lang="en-IN" dirty="0">
              <a:solidFill>
                <a:srgbClr val="FFFFFF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1721DD-D110-44EE-82A7-D56AB687E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5204427"/>
            <a:ext cx="0" cy="91440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blue and red logo&#10;&#10;AI-generated content may be incorrect.">
            <a:extLst>
              <a:ext uri="{FF2B5EF4-FFF2-40B4-BE49-F238E27FC236}">
                <a16:creationId xmlns:a16="http://schemas.microsoft.com/office/drawing/2014/main" id="{4B761666-8107-5DDD-BD08-D4D2F90384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4175" y="5064344"/>
            <a:ext cx="4217932" cy="1054483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11E0BD79-1E50-F6B2-9268-7C16612B75C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2000" y="373585"/>
            <a:ext cx="10111422" cy="3916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"401 Unauthorized" Issue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lang="en-US" sz="2800" dirty="0"/>
              <a:t>Encountered during deployment; resolved by synchronizing the JWT_SECRET key across the Render production environment.</a:t>
            </a:r>
          </a:p>
          <a:p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State Persistence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lang="en-US" sz="2800" dirty="0"/>
              <a:t>Used </a:t>
            </a:r>
            <a:r>
              <a:rPr lang="en-US" sz="2800" dirty="0" err="1"/>
              <a:t>localStorage</a:t>
            </a:r>
            <a:r>
              <a:rPr lang="en-US" sz="2800" dirty="0"/>
              <a:t> and JWT tokens to keep users logged in even after they close the browser or refresh the page.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CORS Management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lang="en-US" sz="2800" dirty="0"/>
              <a:t>Configured backend headers to allow secure communication only from the verified frontend URL (</a:t>
            </a:r>
            <a:r>
              <a:rPr lang="en-US" sz="2800" dirty="0" err="1"/>
              <a:t>Vercel</a:t>
            </a:r>
            <a:r>
              <a:rPr lang="en-US" sz="2800" dirty="0"/>
              <a:t> deployment)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BDDD243-ED5F-4896-B18B-ABCF4B7E1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9E6BB3-DF2B-4751-97C5-B3DB949AED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1998"/>
            <a:ext cx="12188952" cy="22855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4911819"/>
            <a:ext cx="9720072" cy="1499616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tx1"/>
                </a:solidFill>
              </a:rPr>
              <a:t>Output/Screenshot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51550" y="8512633"/>
            <a:ext cx="10437402" cy="3606798"/>
          </a:xfrm>
        </p:spPr>
        <p:txBody>
          <a:bodyPr anchor="ctr">
            <a:normAutofit/>
          </a:bodyPr>
          <a:lstStyle/>
          <a:p>
            <a:r>
              <a:rPr lang="en-IN" sz="2400" b="1" dirty="0"/>
              <a:t>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1721DD-D110-44EE-82A7-D56AB687E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5204427"/>
            <a:ext cx="0" cy="91440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blue and red logo&#10;&#10;AI-generated content may be incorrect.">
            <a:extLst>
              <a:ext uri="{FF2B5EF4-FFF2-40B4-BE49-F238E27FC236}">
                <a16:creationId xmlns:a16="http://schemas.microsoft.com/office/drawing/2014/main" id="{35BE159A-7B15-B74E-A3ED-EB3B00138C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4175" y="5064344"/>
            <a:ext cx="4217932" cy="10544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DA102BF-6B5B-2E29-3A98-B89BBEAD53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827" y="423966"/>
            <a:ext cx="5159337" cy="370192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3E20AE6-2A77-8878-18E5-80C5D17D01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9829" y="155522"/>
            <a:ext cx="4136811" cy="4260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6800" y="2463461"/>
            <a:ext cx="8018272" cy="1499616"/>
          </a:xfrm>
        </p:spPr>
        <p:txBody>
          <a:bodyPr>
            <a:normAutofit/>
          </a:bodyPr>
          <a:lstStyle/>
          <a:p>
            <a:r>
              <a:rPr b="1" dirty="0"/>
              <a:t>Thank You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325601"/>
            <a:ext cx="228692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4394539"/>
            <a:ext cx="228692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44</TotalTime>
  <Words>476</Words>
  <Application>Microsoft Office PowerPoint</Application>
  <PresentationFormat>Widescreen</PresentationFormat>
  <Paragraphs>32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Arial Black</vt:lpstr>
      <vt:lpstr>Arial Unicode MS</vt:lpstr>
      <vt:lpstr>Tw Cen MT</vt:lpstr>
      <vt:lpstr>Tw Cen MT Condensed</vt:lpstr>
      <vt:lpstr>Wingdings 3</vt:lpstr>
      <vt:lpstr>Integral</vt:lpstr>
      <vt:lpstr>JavaScript Project Presentation</vt:lpstr>
      <vt:lpstr>Project Overview &amp; Objectives</vt:lpstr>
      <vt:lpstr>Real-World Problem &amp; Solution</vt:lpstr>
      <vt:lpstr>System Architecture</vt:lpstr>
      <vt:lpstr>Key Modules &amp; Functionality</vt:lpstr>
      <vt:lpstr>Technical Challenges &amp; Solutions</vt:lpstr>
      <vt:lpstr>Output/Screenshot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priyadharshinisakthivel367@outlook.com</cp:lastModifiedBy>
  <cp:revision>5</cp:revision>
  <dcterms:created xsi:type="dcterms:W3CDTF">2013-01-27T09:14:16Z</dcterms:created>
  <dcterms:modified xsi:type="dcterms:W3CDTF">2026-04-15T16:23:32Z</dcterms:modified>
  <cp:category/>
</cp:coreProperties>
</file>